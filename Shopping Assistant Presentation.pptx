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7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team and the problem: R3, a shopping assistant that never invents prices. Round 1 was the proposal; today we show the working system on the real catalogue.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this matters: a chatbot that invents a price or a return rule creates a legal and trust problem. Moffatt v. Air Canada shows companies are held to what their bot says.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flow left to right. Stress that code makes every decision and copies every fact; the LLM only rewrites messages the rules could not read.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four steps, then point at the diagram: parser, decide with its four branches, the LLM rewrite loop back into decide, then response and guard.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numbers come from the organisers' evaluate.py and our latency report. Dev is 40 questions; the 150 test answers are scored by the organisers.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Responsibility is 15% of the rubric. Emphasise: no invented facts, honest refusals, and the LLM has no way to put a price or product ID in front of a shopper.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real problems we hit while testing on the actual catalogue, not hypothetical ones.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differentiators, then the one-line comparison with general-purpose chatbots.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Mention that the stack is light: no GPU, no vector database, runs on a laptop. The project follows the hackathon coding guidelines.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demo at http://127.0.0.1:8000. Suggested order: price, clarify, follow-up 'lavender wali', a policy question, a refusal, then the LLM fallback question.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honest about limits; the jury rewards it. Then show the path to production.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the jury and invite questions. Have the live demo open in a browser tab.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L1 JURY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 i="0">
                <a:solidFill>
                  <a:srgbClr val="00A4EF"/>
                </a:solidFill>
                <a:latin typeface="Calibri"/>
              </a:rPr>
              <a:t>AI Frontier Challenge 2026 · Offline Hackathon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Tech Titans (TEAM-001450)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Team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Varun Raj Chevala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Retail (R3): Shopping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Oct 30,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Shopping chatbots often invent products, prices and return rules that are not in the catalogue, and shoppers act on them.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Affected: online shoppers, and retailers who must honour what their bot says.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Impact: in Moffatt v. Air Canada (2024), a tribunal made the airline pay for a refund rule its chatbot got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Market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India’s online retail is expected to grow from US$75 billion in 2024 to US$260 billion by 2030 (Deloitte and FICCI, 2025).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Target users: India’s online shoppers, expected to reach 400 million by 2030 (Redseer).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Smaller retailers need a low-cost assistant that states only catalogue facts.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Solution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What: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a working chatbot over the 5,000-product catalogue and store policy that cites a product ID or policy section for every fact.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How: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code reads the question, filters the catalogue and decides: answer, ask which one, or say “I don’t have that”.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LLM only as a fallback: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when the rules can’t understand a message (“bread garam karne wali machine”), Groq rewrites it and the rules decide again.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Safe: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every price comes from the catalogue, and a final guard removes any ₹ amount that isn’t backed by a cited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ep 1"/>
          <p:cNvSpPr/>
          <p:nvPr/>
        </p:nvSpPr>
        <p:spPr>
          <a:xfrm>
            <a:off x="59436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Shopper question in English or Hinglish</a:t>
            </a:r>
          </a:p>
        </p:txBody>
      </p:sp>
      <p:sp>
        <p:nvSpPr>
          <p:cNvPr id="8" name="Arrow 1"/>
          <p:cNvSpPr/>
          <p:nvPr/>
        </p:nvSpPr>
        <p:spPr>
          <a:xfrm>
            <a:off x="201168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 2"/>
          <p:cNvSpPr/>
          <p:nvPr/>
        </p:nvSpPr>
        <p:spPr>
          <a:xfrm>
            <a:off x="224028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Parse names, filters and budget</a:t>
            </a:r>
          </a:p>
        </p:txBody>
      </p:sp>
      <p:sp>
        <p:nvSpPr>
          <p:cNvPr id="10" name="Arrow 2"/>
          <p:cNvSpPr/>
          <p:nvPr/>
        </p:nvSpPr>
        <p:spPr>
          <a:xfrm>
            <a:off x="365760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ep 3"/>
          <p:cNvSpPr/>
          <p:nvPr/>
        </p:nvSpPr>
        <p:spPr>
          <a:xfrm>
            <a:off x="388620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Decide: answer, clarify or refuse</a:t>
            </a:r>
          </a:p>
        </p:txBody>
      </p:sp>
      <p:sp>
        <p:nvSpPr>
          <p:cNvPr id="12" name="Arrow 3"/>
          <p:cNvSpPr/>
          <p:nvPr/>
        </p:nvSpPr>
        <p:spPr>
          <a:xfrm>
            <a:off x="530352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ep 4"/>
          <p:cNvSpPr/>
          <p:nvPr/>
        </p:nvSpPr>
        <p:spPr>
          <a:xfrm>
            <a:off x="553212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LLM rewrite only if not understood</a:t>
            </a:r>
          </a:p>
        </p:txBody>
      </p:sp>
      <p:sp>
        <p:nvSpPr>
          <p:cNvPr id="14" name="Arrow 4"/>
          <p:cNvSpPr/>
          <p:nvPr/>
        </p:nvSpPr>
        <p:spPr>
          <a:xfrm>
            <a:off x="694944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5"/>
          <p:cNvSpPr/>
          <p:nvPr/>
        </p:nvSpPr>
        <p:spPr>
          <a:xfrm>
            <a:off x="7178040" y="3749039"/>
            <a:ext cx="1371600" cy="731520"/>
          </a:xfrm>
          <a:prstGeom prst="round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Reply with catalogue facts and citations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Design Steps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74903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657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1. Understand: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parser built from the catalogue’s own brands, product lines, colours and units; fuzzy matching fixes “krida ion flex”.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2. Decide: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filters, policy router and conversation memory choose answer, clarify or refuse, all in code.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3. Fallback: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Groq gpt-oss-20b rewrites messages the rules can’t read; the output is validated and the rules decide again.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4. Reply and check: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facts are copied from the catalogue, and the guard re-checks every ₹ amount with the scorer’s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005840"/>
            <a:ext cx="4251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Architecture Diagram</a:t>
            </a:r>
          </a:p>
        </p:txBody>
      </p:sp>
      <p:sp>
        <p:nvSpPr>
          <p:cNvPr id="7" name="Diagram panel"/>
          <p:cNvSpPr/>
          <p:nvPr/>
        </p:nvSpPr>
        <p:spPr>
          <a:xfrm>
            <a:off x="4434840" y="1371600"/>
            <a:ext cx="4251960" cy="3154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Architecture diagram" descr="Architecture: shopper message, parser, decide with policy router, follow-up turn, named product and filters, LLM rewrite only if needed, response, guard, final rep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592580"/>
            <a:ext cx="4069080" cy="2712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Dev score (baseline 0.73)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Official evaluate.py on 40 dev questions: action, grounding and helpfulness all perfect.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Hallucinated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Every ₹ amount is copied from the catalogue and re-checked by the price guard.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~1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Per query, $0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Rules answer offline with 0 tokens. The LLM fallback uses ~900 tokens, ~0.5 s, ~$0.0001.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Test Set and Quality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150 test questions answered: 82 answer, 30 clarify, 38 refuse, close to the expected test mix.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71 automated tests pass; ruff lint clean; pip-audit finds no known vulnerabilities.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Every example in our questions guide was verified against the live assistant.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How Every Answer Stays 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Every fact carries a product ID or policy section, and the Sources panel shows the exact catalogue row.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Missing ≠ false: if the catalogue doesn’t list a feature, the assistant says so instead of guessing.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It asks which product is meant when several match, and refuses unsold items, other brands and policy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Safe Use of the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Fallback only, and it never writes prices, stock or IDs; its output is validated and invented brands are dropped.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Shopper text is treated as data (prompt-injection safe); the API key lives in .env, never in code.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Timeouts, retries and rate-limit handling; if Groq is down, the rules keep answering offline.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Challenges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1: Hinglish and confusing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Misspelt or split names (“krida ion flex”); Hindi words that are also product names (“khilona”).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Catalogue-built vocabulary, fuzzy matching, and ignoring coincidental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4832"/>
            <a:ext cx="8229600" cy="914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762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2: Ambiguous questions and missing facts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05456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Many variants differ in price or stock, and many attributes are simply not listed.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Clarify only when the asked detail differs; treat missing facts as unknown and refuse instead of guessing.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46704"/>
            <a:ext cx="8229600" cy="914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43814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3: An unpredictable, rate-limited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67328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Wrong mappings (clothes dryer → hair dryer), invented brands, and HTTP 429 rate limits.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Translate-then-map prompt, validation, one retry and back-off; the rules keep answering.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Unique Selling Proposition (USP)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Prices cannot be invented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Code copies every price from the catalogue and the guard re-checks every ₹ amount: 0 hallucinated prices.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Rules first, LLM only when needed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~1 ms and $0 per query. The LLM only rewrites unclear messages and never states a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Built for Indian shoppers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Understands Hinglish, misspellings and descriptions like “baal sukhane wala machine”, and remembers budget and filters across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Competitive Advantage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Why choose us: shoppers get answers they can check, with a product ID or policy section next to every fact, and retailers never promise what they don’t sell.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Versus alternatives: general chatbots answer confidently even when wrong; ours is fast, nearly free, and honest by design.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Tools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Tech Stack</a:t>
            </a:r>
          </a:p>
        </p:txBody>
      </p:sp>
      <p:sp>
        <p:nvSpPr>
          <p:cNvPr id="5" name="Tool 1"/>
          <p:cNvSpPr/>
          <p:nvPr/>
        </p:nvSpPr>
        <p:spPr>
          <a:xfrm>
            <a:off x="45720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Python 3.11 + uv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language, locked dependencies</a:t>
            </a:r>
          </a:p>
        </p:txBody>
      </p:sp>
      <p:sp>
        <p:nvSpPr>
          <p:cNvPr id="6" name="Tool 2"/>
          <p:cNvSpPr/>
          <p:nvPr/>
        </p:nvSpPr>
        <p:spPr>
          <a:xfrm>
            <a:off x="256032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FastAPI + Pydantic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API and validation</a:t>
            </a:r>
          </a:p>
        </p:txBody>
      </p:sp>
      <p:sp>
        <p:nvSpPr>
          <p:cNvPr id="7" name="Tool 3"/>
          <p:cNvSpPr/>
          <p:nvPr/>
        </p:nvSpPr>
        <p:spPr>
          <a:xfrm>
            <a:off x="466344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rapidfuzz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fuzzy name matching</a:t>
            </a:r>
          </a:p>
        </p:txBody>
      </p:sp>
      <p:sp>
        <p:nvSpPr>
          <p:cNvPr id="8" name="Tool 4"/>
          <p:cNvSpPr/>
          <p:nvPr/>
        </p:nvSpPr>
        <p:spPr>
          <a:xfrm>
            <a:off x="6766559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HTML / CSS / JS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chat UI with Sources panel</a:t>
            </a:r>
          </a:p>
        </p:txBody>
      </p:sp>
      <p:sp>
        <p:nvSpPr>
          <p:cNvPr id="9" name="Tool 5"/>
          <p:cNvSpPr/>
          <p:nvPr/>
        </p:nvSpPr>
        <p:spPr>
          <a:xfrm>
            <a:off x="45720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Groq API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gpt-oss-20b LLM fallback</a:t>
            </a:r>
          </a:p>
        </p:txBody>
      </p:sp>
      <p:sp>
        <p:nvSpPr>
          <p:cNvPr id="10" name="Tool 6"/>
          <p:cNvSpPr/>
          <p:nvPr/>
        </p:nvSpPr>
        <p:spPr>
          <a:xfrm>
            <a:off x="256032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pytest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71 automated tests</a:t>
            </a:r>
          </a:p>
        </p:txBody>
      </p:sp>
      <p:sp>
        <p:nvSpPr>
          <p:cNvPr id="11" name="Tool 7"/>
          <p:cNvSpPr/>
          <p:nvPr/>
        </p:nvSpPr>
        <p:spPr>
          <a:xfrm>
            <a:off x="466344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Code quality checks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lint and security scans</a:t>
            </a:r>
          </a:p>
        </p:txBody>
      </p:sp>
      <p:sp>
        <p:nvSpPr>
          <p:cNvPr id="12" name="Tool 8"/>
          <p:cNvSpPr/>
          <p:nvPr/>
        </p:nvSpPr>
        <p:spPr>
          <a:xfrm>
            <a:off x="6766559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evaluate.py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organisers’ official scorer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Engineering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Core logic separate from the web layer; all settings in config.yaml; secrets only in .env.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Structured logging, timeouts on every network call, input validation and rate limiting on the API.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Live Demonstration</a:t>
            </a:r>
          </a:p>
        </p:txBody>
      </p:sp>
      <p:sp>
        <p:nvSpPr>
          <p:cNvPr id="5" name="Screenshot frame"/>
          <p:cNvSpPr/>
          <p:nvPr/>
        </p:nvSpPr>
        <p:spPr>
          <a:xfrm>
            <a:off x="457200" y="1280160"/>
            <a:ext cx="5029200" cy="300837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hatbot screenshot" descr="Chatbot screenshot: a clarify reply listing four yoga mats, the follow-up 'lavender wali' answered, and the Sources pan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4937760" cy="2948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128016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F4788"/>
                </a:solidFill>
                <a:latin typeface="Calibri"/>
              </a:rPr>
              <a:t>Try These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1645920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810512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Chargit QuillBolt red earphones kitne 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2084832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CLARIFY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249424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green running shoes kitne ke hai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523744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688336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earbuds ki seal khol di, return ho jayega?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962656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REFUSE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127248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redmi note 13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401568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MULTI-TURN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566160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6 mm yoga mat chahiye → TPE wali 600 ke 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840480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005072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bread garam karne wali machine kitne 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1F4788"/>
                </a:solidFill>
                <a:latin typeface="Calibri"/>
              </a:rPr>
              <a:t>Chatbot: </a:t>
            </a:r>
            <a:r>
              <a:rPr sz="1200" b="0" i="0">
                <a:solidFill>
                  <a:srgbClr val="1F4788"/>
                </a:solidFill>
                <a:latin typeface="Calibri"/>
              </a:rPr>
              <a:t>http://127.0.0.1:8000    </a:t>
            </a:r>
            <a:r>
              <a:rPr sz="1200" b="1" i="0">
                <a:solidFill>
                  <a:srgbClr val="1F4788"/>
                </a:solidFill>
                <a:latin typeface="Calibri"/>
              </a:rPr>
              <a:t>API docs: </a:t>
            </a:r>
            <a:r>
              <a:rPr sz="1200" b="0" i="0">
                <a:solidFill>
                  <a:srgbClr val="1F4788"/>
                </a:solidFill>
                <a:latin typeface="Calibri"/>
              </a:rPr>
              <a:t>http://127.0.0.1:8000/api/docs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The Hinglish word list is hand-written; very unusual phrasing can still be refused.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The LLM fallback needs network access, adds ~0.5 s, and can occasionally pick the wrong product type.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Conversation memory and rate limiting are in-memory: demo scale, no user accounts.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Learn new Hinglish words and product aliases from real shopper logs.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Add a feedback button so wrong answers are flagged and reviewed.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Move memory to a shared store and add authentication for production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 i="0">
                <a:solidFill>
                  <a:srgbClr val="00A4E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Tech Titans · Retail (R3) · Shopping Assistant that doesn’t lie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882</Words>
  <Application>Microsoft Macintosh PowerPoint</Application>
  <PresentationFormat>On-screen Show (16:9)</PresentationFormat>
  <Paragraphs>75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Akshay Raj Chevala</cp:lastModifiedBy>
  <cp:revision>5</cp:revision>
  <dcterms:created xsi:type="dcterms:W3CDTF">2026-08-06T14:25:19Z</dcterms:created>
  <dcterms:modified xsi:type="dcterms:W3CDTF">2026-10-20T18:23:19Z</dcterms:modified>
</cp:coreProperties>
</file>