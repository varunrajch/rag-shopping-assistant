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65" r:id="rId4"/>
    <p:sldId id="266" r:id="rId5"/>
    <p:sldId id="271" r:id="rId6"/>
    <p:sldId id="272" r:id="rId7"/>
    <p:sldId id="270" r:id="rId8"/>
    <p:sldId id="267" r:id="rId9"/>
    <p:sldId id="268" r:id="rId10"/>
    <p:sldId id="269" r:id="rId11"/>
    <p:sldId id="273" r:id="rId12"/>
    <p:sldId id="27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problem: R3, a shopping assistant that never invents prices. Round 1 was the proposal; today we show the working system on the real catalogue.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this matters: a chatbot that invents a price or a return rule creates a legal and trust problem. Moffatt v. Air Canada shows companies are held to what their bot says.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flow left to right. Stress that code makes every decision and copies every fact; the LLM only rewrites messages the rules could not read.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four steps, then point at the diagram: parser, decide with its four branches, the LLM rewrite loop back into decide, then response and guard.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the stack is light: no GPU, no vector database, runs on a laptop. The project follows the hackathon coding guidelines.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at http://127.0.0.1:8000. Suggested order: price, clarify, follow-up 'lavender wali', a policy question, a refusal, then the LLM fallback question.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differentiators, then the one-line comparison with general-purpose chatbots.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numbers come from the organisers' evaluate.py and our latency report. Dev is 40 questions; the 150 test answers are scored by the organisers.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Responsibility is 15% of the rubric. Emphasise: no invented facts, honest refusals, and the LLM has no way to put a price or product ID in front of a shopper.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real problems we hit while testing on the actual catalogue, not hypothetical ones.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honest about limits; the jury rewards it. Then show the path to production.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jury and invite questions. Have the live demo open in a browser tab.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L1 JURY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00A4EF"/>
                </a:solidFill>
                <a:latin typeface="Calibri"/>
              </a:rPr>
              <a:t>AI Frontier Challenge 2026 · Offline Hackathon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5F5F5"/>
                </a:solidFill>
                <a:latin typeface="Calibri"/>
              </a:rPr>
              <a:t>Team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Tech Titans (TEAM-001450)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5F5F5"/>
                </a:solidFill>
                <a:latin typeface="Calibri"/>
              </a:rPr>
              <a:t>Team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Varun Raj Chevala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5F5F5"/>
                </a:solidFill>
                <a:latin typeface="Calibri"/>
              </a:rPr>
              <a:t>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Retail (R3): Shopping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5F5F5"/>
                </a:solidFill>
                <a:latin typeface="Calibr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Calibri"/>
              </a:rPr>
              <a:t>Oct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Shopping chatbots often invent products, prices and return rules that are not in the catalogue, and shoppers act on them.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Affected: online shoppers, and retailers who must honour what their bot says.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Impact: in Moffatt v. Air Canada (2024), a tribunal made the airline pay for a refund rule its chatbot got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India’s online retail is expected to grow from US$75 billion in 2024 to US$260 billion by 2030 (Deloitte and FICCI, 2025).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Target users: India’s online shoppers, expected to reach 400 million by 2030 (Redseer).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600" b="0" i="0">
                <a:solidFill>
                  <a:srgbClr val="2D2D2D"/>
                </a:solidFill>
                <a:latin typeface="Calibri"/>
              </a:rPr>
              <a:t>Smaller retailers need a low-cost assistant that states only catalogue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Solution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rgbClr val="2D2D2D"/>
                </a:solidFill>
                <a:latin typeface="Calibri"/>
              </a:rPr>
              <a:t>What: </a:t>
            </a:r>
            <a:r>
              <a:rPr sz="1500" b="0" i="0">
                <a:solidFill>
                  <a:srgbClr val="2D2D2D"/>
                </a:solidFill>
                <a:latin typeface="Calibri"/>
              </a:rPr>
              <a:t>a working chatbot over the 5,000-product catalogue and store policy that cites a product ID or policy section for every fact.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rgbClr val="2D2D2D"/>
                </a:solidFill>
                <a:latin typeface="Calibri"/>
              </a:rPr>
              <a:t>How: </a:t>
            </a:r>
            <a:r>
              <a:rPr sz="1500" b="0" i="0">
                <a:solidFill>
                  <a:srgbClr val="2D2D2D"/>
                </a:solidFill>
                <a:latin typeface="Calibri"/>
              </a:rPr>
              <a:t>code reads the question, filters the catalogue and decides: answer, ask which one, or say “I don’t have that”.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rgbClr val="2D2D2D"/>
                </a:solidFill>
                <a:latin typeface="Calibri"/>
              </a:rPr>
              <a:t>LLM only as a fallback: </a:t>
            </a:r>
            <a:r>
              <a:rPr sz="1500" b="0" i="0">
                <a:solidFill>
                  <a:srgbClr val="2D2D2D"/>
                </a:solidFill>
                <a:latin typeface="Calibri"/>
              </a:rPr>
              <a:t>when the rules can’t understand a message (“bread garam karne wali machine”), Groq rewrites it and the rules decide again.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1" i="0">
                <a:solidFill>
                  <a:srgbClr val="2D2D2D"/>
                </a:solidFill>
                <a:latin typeface="Calibri"/>
              </a:rPr>
              <a:t>Safe: </a:t>
            </a:r>
            <a:r>
              <a:rPr sz="1500" b="0" i="0">
                <a:solidFill>
                  <a:srgbClr val="2D2D2D"/>
                </a:solidFill>
                <a:latin typeface="Calibri"/>
              </a:rPr>
              <a:t>every price comes from the catalogue, and a final guard removes any ₹ amount that isn’t backed by a cited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ep 1"/>
          <p:cNvSpPr/>
          <p:nvPr/>
        </p:nvSpPr>
        <p:spPr>
          <a:xfrm>
            <a:off x="594360" y="3749039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i="0">
                <a:solidFill>
                  <a:srgbClr val="1F4788"/>
                </a:solidFill>
                <a:latin typeface="Calibri"/>
              </a:rPr>
              <a:t>Shopper question in English or Hinglish</a:t>
            </a:r>
          </a:p>
        </p:txBody>
      </p:sp>
      <p:sp>
        <p:nvSpPr>
          <p:cNvPr id="8" name="Arrow 1"/>
          <p:cNvSpPr/>
          <p:nvPr/>
        </p:nvSpPr>
        <p:spPr>
          <a:xfrm>
            <a:off x="201168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2"/>
          <p:cNvSpPr/>
          <p:nvPr/>
        </p:nvSpPr>
        <p:spPr>
          <a:xfrm>
            <a:off x="2240280" y="3749039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i="0">
                <a:solidFill>
                  <a:srgbClr val="1F4788"/>
                </a:solidFill>
                <a:latin typeface="Calibri"/>
              </a:rPr>
              <a:t>Parse names, filters and budget</a:t>
            </a:r>
          </a:p>
        </p:txBody>
      </p:sp>
      <p:sp>
        <p:nvSpPr>
          <p:cNvPr id="10" name="Arrow 2"/>
          <p:cNvSpPr/>
          <p:nvPr/>
        </p:nvSpPr>
        <p:spPr>
          <a:xfrm>
            <a:off x="365760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ep 3"/>
          <p:cNvSpPr/>
          <p:nvPr/>
        </p:nvSpPr>
        <p:spPr>
          <a:xfrm>
            <a:off x="3886200" y="3749039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i="0">
                <a:solidFill>
                  <a:srgbClr val="1F4788"/>
                </a:solidFill>
                <a:latin typeface="Calibri"/>
              </a:rPr>
              <a:t>Decide: answer, clarify or refuse</a:t>
            </a:r>
          </a:p>
        </p:txBody>
      </p:sp>
      <p:sp>
        <p:nvSpPr>
          <p:cNvPr id="12" name="Arrow 3"/>
          <p:cNvSpPr/>
          <p:nvPr/>
        </p:nvSpPr>
        <p:spPr>
          <a:xfrm>
            <a:off x="530352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4"/>
          <p:cNvSpPr/>
          <p:nvPr/>
        </p:nvSpPr>
        <p:spPr>
          <a:xfrm>
            <a:off x="5532120" y="3749039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i="0">
                <a:solidFill>
                  <a:srgbClr val="1F4788"/>
                </a:solidFill>
                <a:latin typeface="Calibri"/>
              </a:rPr>
              <a:t>LLM rewrite only if not understood</a:t>
            </a:r>
          </a:p>
        </p:txBody>
      </p:sp>
      <p:sp>
        <p:nvSpPr>
          <p:cNvPr id="14" name="Arrow 4"/>
          <p:cNvSpPr/>
          <p:nvPr/>
        </p:nvSpPr>
        <p:spPr>
          <a:xfrm>
            <a:off x="6949440" y="4032504"/>
            <a:ext cx="182880" cy="164592"/>
          </a:xfrm>
          <a:prstGeom prst="rightArrow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5"/>
          <p:cNvSpPr/>
          <p:nvPr/>
        </p:nvSpPr>
        <p:spPr>
          <a:xfrm>
            <a:off x="7178040" y="3749039"/>
            <a:ext cx="1371600" cy="731520"/>
          </a:xfrm>
          <a:prstGeom prst="round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Reply with catalogue facts and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Design Steps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1F4788"/>
                </a:solidFill>
                <a:latin typeface="Calibr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2D2D2D"/>
                </a:solidFill>
                <a:latin typeface="Calibri"/>
              </a:rPr>
              <a:t>1. Understand: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parser built from the catalogue’s own brands, product lines, colours and units; fuzzy matching fixes “krida ion flex”.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D2D2D"/>
                </a:solidFill>
                <a:latin typeface="Calibri"/>
              </a:rPr>
              <a:t>2. Decide: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filters, policy router and conversation memory choose answer, clarify or refuse, all in code.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D2D2D"/>
                </a:solidFill>
                <a:latin typeface="Calibri"/>
              </a:rPr>
              <a:t>3. Fallback: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Groq gpt-oss-20b rewrites messages the rules can’t read; the output is validated and the rules decide again.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2D2D2D"/>
                </a:solidFill>
                <a:latin typeface="Calibri"/>
              </a:rPr>
              <a:t>4. Reply and check: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facts are copied from the catalogue, and the guard re-checks every ₹ amount with the scorer’s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005840"/>
            <a:ext cx="4251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1F4788"/>
                </a:solidFill>
                <a:latin typeface="Calibri"/>
              </a:rPr>
              <a:t>Architecture Diagram</a:t>
            </a:r>
          </a:p>
        </p:txBody>
      </p:sp>
      <p:sp>
        <p:nvSpPr>
          <p:cNvPr id="7" name="Diagram panel"/>
          <p:cNvSpPr/>
          <p:nvPr/>
        </p:nvSpPr>
        <p:spPr>
          <a:xfrm>
            <a:off x="4434840" y="1371600"/>
            <a:ext cx="4251960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Architecture diagram" descr="Architecture: shopper message, parser, decide with policy router, follow-up turn, named product and filters, LLM rewrite only if needed, response, guard, final rep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592580"/>
            <a:ext cx="4069080" cy="2712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Tech Stack</a:t>
            </a:r>
          </a:p>
        </p:txBody>
      </p:sp>
      <p:sp>
        <p:nvSpPr>
          <p:cNvPr id="5" name="Tool 1"/>
          <p:cNvSpPr/>
          <p:nvPr/>
        </p:nvSpPr>
        <p:spPr>
          <a:xfrm>
            <a:off x="457200" y="14173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Python 3.11 + uv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language, locked dependencies</a:t>
            </a:r>
          </a:p>
        </p:txBody>
      </p:sp>
      <p:sp>
        <p:nvSpPr>
          <p:cNvPr id="6" name="Tool 2"/>
          <p:cNvSpPr/>
          <p:nvPr/>
        </p:nvSpPr>
        <p:spPr>
          <a:xfrm>
            <a:off x="2560320" y="14173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FastAPI + Pydantic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API and validation</a:t>
            </a:r>
          </a:p>
        </p:txBody>
      </p:sp>
      <p:sp>
        <p:nvSpPr>
          <p:cNvPr id="7" name="Tool 3"/>
          <p:cNvSpPr/>
          <p:nvPr/>
        </p:nvSpPr>
        <p:spPr>
          <a:xfrm>
            <a:off x="4663440" y="14173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rapidfuzz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fuzzy name matching</a:t>
            </a:r>
          </a:p>
        </p:txBody>
      </p:sp>
      <p:sp>
        <p:nvSpPr>
          <p:cNvPr id="8" name="Tool 4"/>
          <p:cNvSpPr/>
          <p:nvPr/>
        </p:nvSpPr>
        <p:spPr>
          <a:xfrm>
            <a:off x="6766559" y="14173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HTML / CSS / JS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chat UI with Sources panel</a:t>
            </a:r>
          </a:p>
        </p:txBody>
      </p:sp>
      <p:sp>
        <p:nvSpPr>
          <p:cNvPr id="9" name="Tool 5"/>
          <p:cNvSpPr/>
          <p:nvPr/>
        </p:nvSpPr>
        <p:spPr>
          <a:xfrm>
            <a:off x="457200" y="23317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Groq API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gpt-oss-20b LLM fallback</a:t>
            </a:r>
          </a:p>
        </p:txBody>
      </p:sp>
      <p:sp>
        <p:nvSpPr>
          <p:cNvPr id="10" name="Tool 6"/>
          <p:cNvSpPr/>
          <p:nvPr/>
        </p:nvSpPr>
        <p:spPr>
          <a:xfrm>
            <a:off x="2560320" y="23317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pytest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71 automated tests</a:t>
            </a:r>
          </a:p>
        </p:txBody>
      </p:sp>
      <p:sp>
        <p:nvSpPr>
          <p:cNvPr id="11" name="Tool 7"/>
          <p:cNvSpPr/>
          <p:nvPr/>
        </p:nvSpPr>
        <p:spPr>
          <a:xfrm>
            <a:off x="4663440" y="23317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Code quality checks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lint and security scans</a:t>
            </a:r>
          </a:p>
        </p:txBody>
      </p:sp>
      <p:sp>
        <p:nvSpPr>
          <p:cNvPr id="12" name="Tool 8"/>
          <p:cNvSpPr/>
          <p:nvPr/>
        </p:nvSpPr>
        <p:spPr>
          <a:xfrm>
            <a:off x="6766559" y="233172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 i="0">
                <a:solidFill>
                  <a:srgbClr val="1F4788"/>
                </a:solidFill>
                <a:latin typeface="Calibri"/>
              </a:rPr>
              <a:t>evaluate.py</a:t>
            </a:r>
          </a:p>
          <a:p>
            <a:pPr algn="ctr"/>
            <a:r>
              <a:rPr sz="1050" b="0" i="0">
                <a:solidFill>
                  <a:srgbClr val="5F5F5F"/>
                </a:solidFill>
                <a:latin typeface="Calibri"/>
              </a:rPr>
              <a:t>organisers’ official scorer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F4788"/>
                </a:solidFill>
                <a:latin typeface="Calibri"/>
              </a:rPr>
              <a:t>Engineering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Core logic separate from the web layer; all settings in config.yaml; secrets only in .env.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Structured logging, timeouts on every network call, input validation and rate limiting on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1F4788"/>
                </a:solidFill>
                <a:latin typeface="Calibri"/>
              </a:rPr>
              <a:t>Live Demonstration</a:t>
            </a:r>
          </a:p>
        </p:txBody>
      </p:sp>
      <p:sp>
        <p:nvSpPr>
          <p:cNvPr id="5" name="Screenshot frame"/>
          <p:cNvSpPr/>
          <p:nvPr/>
        </p:nvSpPr>
        <p:spPr>
          <a:xfrm>
            <a:off x="457200" y="1280160"/>
            <a:ext cx="5029200" cy="30083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hatbot screenshot" descr="Chatbot screenshot: a clarify reply listing four yoga mats, the follow-up 'lavender wali' answered, and the Sources pa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4937760" cy="2948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0" y="12801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 dirty="0">
                <a:solidFill>
                  <a:srgbClr val="1F4788"/>
                </a:solidFill>
                <a:latin typeface="Calibri"/>
              </a:rPr>
              <a:t>Try These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64592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ANSWER ·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1051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Price of Chargit QuillBolt red earphones?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084832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CLARIFY · Hinglish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249424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green running shoes kitne ke hai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523744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POLICY ·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8833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Can I return earbuds after opening the seal?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962656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REFUSE · Hinglish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127248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iphone 15 milega?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401568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MULTI-TURN · Hinglish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5661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6 mm yoga mat chahiye → TPE wali 600 ke andar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84048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 i="0">
                <a:solidFill>
                  <a:srgbClr val="00A4EF"/>
                </a:solidFill>
                <a:latin typeface="Calibri"/>
              </a:rPr>
              <a:t>LLM · 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00507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2D2D2D"/>
                </a:solidFill>
                <a:latin typeface="Calibri"/>
              </a:rPr>
              <a:t>How much is a machine that toasts bread?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1F4788"/>
                </a:solidFill>
                <a:latin typeface="Calibri"/>
              </a:rPr>
              <a:t>Chatbot: </a:t>
            </a:r>
            <a:r>
              <a:rPr sz="1200" b="0" i="0">
                <a:solidFill>
                  <a:srgbClr val="1F4788"/>
                </a:solidFill>
                <a:latin typeface="Calibri"/>
              </a:rPr>
              <a:t>http://127.0.0.1:8000    </a:t>
            </a:r>
            <a:r>
              <a:rPr sz="1200" b="1" i="0">
                <a:solidFill>
                  <a:srgbClr val="1F4788"/>
                </a:solidFill>
                <a:latin typeface="Calibri"/>
              </a:rPr>
              <a:t>API docs: </a:t>
            </a:r>
            <a:r>
              <a:rPr sz="1200" b="0" i="0">
                <a:solidFill>
                  <a:srgbClr val="1F4788"/>
                </a:solidFill>
                <a:latin typeface="Calibri"/>
              </a:rPr>
              <a:t>http://127.0.0.1:8000/api/docs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Unique Selling Proposition (USP)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Key Differentiator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468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4788"/>
                </a:solidFill>
                <a:latin typeface="Calibri"/>
              </a:rPr>
              <a:t>Prices cannot be invented</a:t>
            </a:r>
          </a:p>
          <a:p>
            <a:pPr algn="ctr"/>
            <a:r>
              <a:rPr sz="1200" b="0" i="0">
                <a:solidFill>
                  <a:srgbClr val="1F4788"/>
                </a:solidFill>
                <a:latin typeface="Calibri"/>
              </a:rPr>
              <a:t>Code copies every price from the catalogue and the guard re-checks every ₹ amount: 0 hallucinated prices.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1430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Key Differentiator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468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4788"/>
                </a:solidFill>
                <a:latin typeface="Calibri"/>
              </a:rPr>
              <a:t>Rules first, LLM only when needed</a:t>
            </a:r>
          </a:p>
          <a:p>
            <a:pPr algn="ctr"/>
            <a:r>
              <a:rPr sz="1200" b="0" i="0">
                <a:solidFill>
                  <a:srgbClr val="1F4788"/>
                </a:solidFill>
                <a:latin typeface="Calibri"/>
              </a:rPr>
              <a:t>~1 ms and $0 per query. The LLM only rewrites unclear messages and never states a fact.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1430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Key Differentiator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468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4788"/>
                </a:solidFill>
                <a:latin typeface="Calibri"/>
              </a:rPr>
              <a:t>Built for Indian shoppers</a:t>
            </a:r>
          </a:p>
          <a:p>
            <a:pPr algn="ctr"/>
            <a:r>
              <a:rPr sz="1200" b="0" i="0">
                <a:solidFill>
                  <a:srgbClr val="1F4788"/>
                </a:solidFill>
                <a:latin typeface="Calibri"/>
              </a:rPr>
              <a:t>Understands Hinglish, misspellings and descriptions like “baal sukhane wala machine”, and remembers budget and filters across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F4788"/>
                </a:solidFill>
                <a:latin typeface="Calibri"/>
              </a:rPr>
              <a:t>Competitive Advantage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Why choose us: shoppers get answers they can check, with a product ID or policy section next to every fact, and retailers never promise what they don’t sell.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Versus alternatives: general chatbots answer confidently even when wrong; ours is fast, nearly free, and honest by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1F4788"/>
                </a:solidFill>
                <a:latin typeface="Calibri"/>
              </a:rPr>
              <a:t>1.000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Dev score (baseline 0.73)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Official evaluate.py on 40 dev questions: action, grounding and helpfulness all perfect.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115568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1F4788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Hallucinated 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Every ₹ amount is copied from the catalogue and re-checked by the price guard.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246888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115568"/>
            <a:ext cx="2468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1F4788"/>
                </a:solidFill>
                <a:latin typeface="Calibri"/>
              </a:rPr>
              <a:t>~1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788"/>
                </a:solidFill>
                <a:latin typeface="Calibri"/>
              </a:rPr>
              <a:t>Per query, $0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2D2D2D"/>
                </a:solidFill>
                <a:latin typeface="Calibri"/>
              </a:rPr>
              <a:t>Rules answer offline with 0 tokens. The LLM fallback uses ~900 tokens, ~0.5 s, ~$0.0001.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1F4788"/>
                </a:solidFill>
                <a:latin typeface="Calibri"/>
              </a:rPr>
              <a:t>Test Set and Quality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150 test questions answered: 82 answer, 30 clarify, 38 refuse, close to the expected test mix.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71 automated tests pass; ruff lint clean; pip-audit finds no known vulnerabilities.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400" b="0" i="0">
                <a:solidFill>
                  <a:srgbClr val="2D2D2D"/>
                </a:solidFill>
                <a:latin typeface="Calibri"/>
              </a:rPr>
              <a:t>Every example in our questions guide was verified against the live assistant.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How Every Answer Stays Grounded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Every fact carries a product ID or policy section, and the Sources panel shows the exact catalogue row.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Missing ≠ false: if the catalogue doesn’t list a feature, the assistant says so instead of guessing.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It asks which product is meant when several match, and refuses unsold items, other brands and policy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Safe Use of the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Fallback only, and it never writes prices, stock or IDs; its output is validated and invented brands are dropped.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Shopper text is treated as data (prompt-injection safe); the API key lives in .env, never in code.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Timeouts, retries and rate-limit handling; if Groq is down, the rules keep answering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Challenges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D2D2D"/>
                </a:solidFill>
                <a:latin typeface="Calibri"/>
              </a:rPr>
              <a:t>Challenge 1: Hinglish and confusing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3584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D2D2D"/>
                </a:solidFill>
                <a:latin typeface="Calibri"/>
              </a:rPr>
              <a:t>Problem: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Misspelt or split names (“krida ion flex”); Hindi words that are also product names (“khilona”).</a:t>
            </a:r>
          </a:p>
          <a:p>
            <a:r>
              <a:rPr sz="1300" b="1" i="0">
                <a:solidFill>
                  <a:srgbClr val="2D2D2D"/>
                </a:solidFill>
                <a:latin typeface="Calibri"/>
              </a:rPr>
              <a:t>Mitigation: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Catalogue-built vocabulary, fuzzy matching, and ignoring coincidental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84832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D2D2D"/>
                </a:solidFill>
                <a:latin typeface="Calibri"/>
              </a:rPr>
              <a:t>Challenge 2: Ambiguous questions and missing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D2D2D"/>
                </a:solidFill>
                <a:latin typeface="Calibri"/>
              </a:rPr>
              <a:t>Problem: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Many variants differ in price or stock, and many attributes are simply not listed.</a:t>
            </a:r>
          </a:p>
          <a:p>
            <a:r>
              <a:rPr sz="1300" b="1" i="0">
                <a:solidFill>
                  <a:srgbClr val="2D2D2D"/>
                </a:solidFill>
                <a:latin typeface="Calibri"/>
              </a:rPr>
              <a:t>Mitigation: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Clarify only when the asked detail differs; treat missing facts as unknown and refuse instead of guessing.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46704"/>
            <a:ext cx="8229600" cy="914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43814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2D2D2D"/>
                </a:solidFill>
                <a:latin typeface="Calibri"/>
              </a:rPr>
              <a:t>Challenge 3: An unpredictable, rate-limited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D2D2D"/>
                </a:solidFill>
                <a:latin typeface="Calibri"/>
              </a:rPr>
              <a:t>Problem: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Wrong mappings (clothes dryer → hair dryer), invented brands, and HTTP 429 rate limits.</a:t>
            </a:r>
          </a:p>
          <a:p>
            <a:r>
              <a:rPr sz="1300" b="1" i="0">
                <a:solidFill>
                  <a:srgbClr val="2D2D2D"/>
                </a:solidFill>
                <a:latin typeface="Calibri"/>
              </a:rPr>
              <a:t>Mitigation: </a:t>
            </a:r>
            <a:r>
              <a:rPr sz="1300" b="0" i="0">
                <a:solidFill>
                  <a:srgbClr val="2D2D2D"/>
                </a:solidFill>
                <a:latin typeface="Calibri"/>
              </a:rPr>
              <a:t>Translate-then-map prompt, validation, one retry and back-off; the rules keep answering.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The Hinglish word list is hand-written; very unusual phrasing can still be refused.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The LLM fallback needs network access, adds ~0.5 s, and can occasionally pick the wrong product type.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Conversation memory and rate limiting are in-memory: demo scale, no user accounts.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788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Learn new Hinglish words and product aliases from real shopper logs.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Add a feedback button so wrong answers are flagged and reviewed.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500" b="0" i="0">
                <a:solidFill>
                  <a:srgbClr val="2D2D2D"/>
                </a:solidFill>
                <a:latin typeface="Calibri"/>
              </a:rPr>
              <a:t>Move memory to a shared store and add authentication for production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i="0">
                <a:solidFill>
                  <a:srgbClr val="00A4E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Tech Titans · Retail (R3) · Shopping Assistant that doesn’t lie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1571</Words>
  <Application>Microsoft Macintosh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Raj Chevala</cp:lastModifiedBy>
  <cp:revision>7</cp:revision>
  <dcterms:created xsi:type="dcterms:W3CDTF">2026-08-06T14:25:19Z</dcterms:created>
  <dcterms:modified xsi:type="dcterms:W3CDTF">2026-10-29T07:29:33Z</dcterms:modified>
</cp:coreProperties>
</file>