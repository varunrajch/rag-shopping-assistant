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63" r:id="rId2"/>
    <p:sldId id="264" r:id="rId3"/>
    <p:sldId id="265" r:id="rId4"/>
    <p:sldId id="266" r:id="rId5"/>
    <p:sldId id="271" r:id="rId6"/>
    <p:sldId id="270" r:id="rId7"/>
    <p:sldId id="272" r:id="rId8"/>
    <p:sldId id="267" r:id="rId9"/>
    <p:sldId id="268" r:id="rId10"/>
    <p:sldId id="269" r:id="rId11"/>
    <p:sldId id="273" r:id="rId12"/>
    <p:sldId id="274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97"/>
    <p:restoredTop sz="94610"/>
  </p:normalViewPr>
  <p:slideViewPr>
    <p:cSldViewPr snapToGrid="0" snapToObjects="1">
      <p:cViewPr varScale="1">
        <p:scale>
          <a:sx n="158" d="100"/>
          <a:sy n="158" d="100"/>
        </p:scale>
        <p:origin x="4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1860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Introduce the team and the problem: R3, a shopping assistant that never invents prices. Round 1 was the proposal; today we show the working system on the real catalogue.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Why this matters: a chatbot that invents a price or a return rule creates a legal and trust problem. Moffatt v. Air Canada shows companies are held to what their bot says.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flow left to right. Stress that code makes every decision and copies every fact; the LLM only rewrites messages the rules could not read.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the four steps, then point at the diagram: parser, decide with its four branches, the LLM rewrite loop back into decide, then response and guard.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Mention that the stack is light: no GPU, no vector database, runs on a laptop. The project follows the hackathon coding guidelines.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differentiators, then the one-line comparison with general-purpose chatbots.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Live demo at http://127.0.0.1:8000. Suggested order: price, clarify, follow-up 'lavender wali', a policy question, a refusal, then the LLM fallback question.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numbers come from the organisers' evaluate.py and our latency report. Dev is 40 questions; the 150 test answers are scored by the organisers.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Responsibility is 15% of the rubric. Emphasise: no invented facts, honest refusals, and the LLM has no way to put a price or product ID in front of a shopper.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are real problems we hit while testing on the actual catalogue, not hypothetical ones.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 honest about limits; the jury rewards it. Then show the path to production.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Thank the jury and invite questions. Have the live demo open in a browser tab.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7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L1 JURY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 i="0">
                <a:solidFill>
                  <a:srgbClr val="00A4EF"/>
                </a:solidFill>
                <a:latin typeface="Calibri"/>
              </a:rPr>
              <a:t>AI Frontier Challenge 2026 · Offline Hackathon 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5F5F5"/>
                </a:solidFill>
                <a:latin typeface="Calibri"/>
              </a:rPr>
              <a:t>Team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8036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FFFFFF"/>
                </a:solidFill>
                <a:latin typeface="Calibri"/>
              </a:rPr>
              <a:t>Tech Titans (TEAM-001450)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5603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5F5F5"/>
                </a:solidFill>
                <a:latin typeface="Calibri"/>
              </a:rPr>
              <a:t>Team Leader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88036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FFFFFF"/>
                </a:solidFill>
                <a:latin typeface="Calibri"/>
              </a:rPr>
              <a:t>Varun Raj Chevala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5F5F5"/>
                </a:solidFill>
                <a:latin typeface="Calibri"/>
              </a:rPr>
              <a:t>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FFFFFF"/>
                </a:solidFill>
                <a:latin typeface="Calibri"/>
              </a:rPr>
              <a:t>Retail (R3): Shopping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338328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5F5F5"/>
                </a:solidFill>
                <a:latin typeface="Calibri"/>
              </a:rPr>
              <a:t>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033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FFFFFF"/>
                </a:solidFill>
                <a:latin typeface="Calibri"/>
              </a:rPr>
              <a:t>Oct 30,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Use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4788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0" i="0">
                <a:solidFill>
                  <a:srgbClr val="2D2D2D"/>
                </a:solidFill>
                <a:latin typeface="Calibri"/>
              </a:rPr>
              <a:t>Shopping chatbots often invent products, prices and return rules that are not in the catalogue, and shoppers act on them.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0" i="0">
                <a:solidFill>
                  <a:srgbClr val="2D2D2D"/>
                </a:solidFill>
                <a:latin typeface="Calibri"/>
              </a:rPr>
              <a:t>Affected: online shoppers, and retailers who must honour what their bot says.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0" i="0">
                <a:solidFill>
                  <a:srgbClr val="2D2D2D"/>
                </a:solidFill>
                <a:latin typeface="Calibri"/>
              </a:rPr>
              <a:t>Impact: in Moffatt v. Air Canada (2024), a tribunal made the airline pay for a refund rule its chatbot got wrong.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4788"/>
                </a:solidFill>
                <a:latin typeface="Calibri"/>
              </a:rPr>
              <a:t>Market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0" i="0">
                <a:solidFill>
                  <a:srgbClr val="2D2D2D"/>
                </a:solidFill>
                <a:latin typeface="Calibri"/>
              </a:rPr>
              <a:t>India’s online retail is expected to grow from US$75 billion in 2024 to US$260 billion by 2030 (Deloitte and FICCI, 2025).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0" i="0">
                <a:solidFill>
                  <a:srgbClr val="2D2D2D"/>
                </a:solidFill>
                <a:latin typeface="Calibri"/>
              </a:rPr>
              <a:t>Target users: India’s online shoppers, expected to reach 400 million by 2030 (Redseer).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0" i="0">
                <a:solidFill>
                  <a:srgbClr val="2D2D2D"/>
                </a:solidFill>
                <a:latin typeface="Calibri"/>
              </a:rPr>
              <a:t>Smaller retailers need a low-cost assistant that states only catalogue facts.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Solution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4788"/>
                </a:solidFill>
                <a:latin typeface="Calibri"/>
              </a:rPr>
              <a:t>Solution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1" i="0">
                <a:solidFill>
                  <a:srgbClr val="2D2D2D"/>
                </a:solidFill>
                <a:latin typeface="Calibri"/>
              </a:rPr>
              <a:t>What: </a:t>
            </a:r>
            <a:r>
              <a:rPr sz="1500" b="0" i="0">
                <a:solidFill>
                  <a:srgbClr val="2D2D2D"/>
                </a:solidFill>
                <a:latin typeface="Calibri"/>
              </a:rPr>
              <a:t>a working chatbot over the 5,000-product catalogue and store policy that cites a product ID or policy section for every fact.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1" i="0">
                <a:solidFill>
                  <a:srgbClr val="2D2D2D"/>
                </a:solidFill>
                <a:latin typeface="Calibri"/>
              </a:rPr>
              <a:t>How: </a:t>
            </a:r>
            <a:r>
              <a:rPr sz="1500" b="0" i="0">
                <a:solidFill>
                  <a:srgbClr val="2D2D2D"/>
                </a:solidFill>
                <a:latin typeface="Calibri"/>
              </a:rPr>
              <a:t>code reads the question, filters the catalogue and decides: answer, ask which one, or say “I don’t have that”.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1" i="0">
                <a:solidFill>
                  <a:srgbClr val="2D2D2D"/>
                </a:solidFill>
                <a:latin typeface="Calibri"/>
              </a:rPr>
              <a:t>LLM only as a fallback: </a:t>
            </a:r>
            <a:r>
              <a:rPr sz="1500" b="0" i="0">
                <a:solidFill>
                  <a:srgbClr val="2D2D2D"/>
                </a:solidFill>
                <a:latin typeface="Calibri"/>
              </a:rPr>
              <a:t>when the rules can’t understand a message (“bread garam karne wali machine”), Groq rewrites it and the rules decide again.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1" i="0">
                <a:solidFill>
                  <a:srgbClr val="2D2D2D"/>
                </a:solidFill>
                <a:latin typeface="Calibri"/>
              </a:rPr>
              <a:t>Safe: </a:t>
            </a:r>
            <a:r>
              <a:rPr sz="1500" b="0" i="0">
                <a:solidFill>
                  <a:srgbClr val="2D2D2D"/>
                </a:solidFill>
                <a:latin typeface="Calibri"/>
              </a:rPr>
              <a:t>every price comes from the catalogue, and a final guard removes any ₹ amount that isn’t backed by a cited product.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Step 1"/>
          <p:cNvSpPr/>
          <p:nvPr/>
        </p:nvSpPr>
        <p:spPr>
          <a:xfrm>
            <a:off x="594360" y="3749039"/>
            <a:ext cx="13716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100" b="1" i="0">
                <a:solidFill>
                  <a:srgbClr val="1F4788"/>
                </a:solidFill>
                <a:latin typeface="Calibri"/>
              </a:rPr>
              <a:t>Shopper question in English or Hinglish</a:t>
            </a:r>
          </a:p>
        </p:txBody>
      </p:sp>
      <p:sp>
        <p:nvSpPr>
          <p:cNvPr id="8" name="Arrow 1"/>
          <p:cNvSpPr/>
          <p:nvPr/>
        </p:nvSpPr>
        <p:spPr>
          <a:xfrm>
            <a:off x="2011680" y="4032504"/>
            <a:ext cx="182880" cy="164592"/>
          </a:xfrm>
          <a:prstGeom prst="rightArrow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tep 2"/>
          <p:cNvSpPr/>
          <p:nvPr/>
        </p:nvSpPr>
        <p:spPr>
          <a:xfrm>
            <a:off x="2240280" y="3749039"/>
            <a:ext cx="13716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100" b="1" i="0">
                <a:solidFill>
                  <a:srgbClr val="1F4788"/>
                </a:solidFill>
                <a:latin typeface="Calibri"/>
              </a:rPr>
              <a:t>Parse names, filters and budget</a:t>
            </a:r>
          </a:p>
        </p:txBody>
      </p:sp>
      <p:sp>
        <p:nvSpPr>
          <p:cNvPr id="10" name="Arrow 2"/>
          <p:cNvSpPr/>
          <p:nvPr/>
        </p:nvSpPr>
        <p:spPr>
          <a:xfrm>
            <a:off x="3657600" y="4032504"/>
            <a:ext cx="182880" cy="164592"/>
          </a:xfrm>
          <a:prstGeom prst="rightArrow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Step 3"/>
          <p:cNvSpPr/>
          <p:nvPr/>
        </p:nvSpPr>
        <p:spPr>
          <a:xfrm>
            <a:off x="3886200" y="3749039"/>
            <a:ext cx="13716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100" b="1" i="0">
                <a:solidFill>
                  <a:srgbClr val="1F4788"/>
                </a:solidFill>
                <a:latin typeface="Calibri"/>
              </a:rPr>
              <a:t>Decide: answer, clarify or refuse</a:t>
            </a:r>
          </a:p>
        </p:txBody>
      </p:sp>
      <p:sp>
        <p:nvSpPr>
          <p:cNvPr id="12" name="Arrow 3"/>
          <p:cNvSpPr/>
          <p:nvPr/>
        </p:nvSpPr>
        <p:spPr>
          <a:xfrm>
            <a:off x="5303520" y="4032504"/>
            <a:ext cx="182880" cy="164592"/>
          </a:xfrm>
          <a:prstGeom prst="rightArrow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tep 4"/>
          <p:cNvSpPr/>
          <p:nvPr/>
        </p:nvSpPr>
        <p:spPr>
          <a:xfrm>
            <a:off x="5532120" y="3749039"/>
            <a:ext cx="13716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100" b="1" i="0">
                <a:solidFill>
                  <a:srgbClr val="1F4788"/>
                </a:solidFill>
                <a:latin typeface="Calibri"/>
              </a:rPr>
              <a:t>LLM rewrite only if not understood</a:t>
            </a:r>
          </a:p>
        </p:txBody>
      </p:sp>
      <p:sp>
        <p:nvSpPr>
          <p:cNvPr id="14" name="Arrow 4"/>
          <p:cNvSpPr/>
          <p:nvPr/>
        </p:nvSpPr>
        <p:spPr>
          <a:xfrm>
            <a:off x="6949440" y="4032504"/>
            <a:ext cx="182880" cy="164592"/>
          </a:xfrm>
          <a:prstGeom prst="rightArrow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tep 5"/>
          <p:cNvSpPr/>
          <p:nvPr/>
        </p:nvSpPr>
        <p:spPr>
          <a:xfrm>
            <a:off x="7178040" y="3749039"/>
            <a:ext cx="1371600" cy="731520"/>
          </a:xfrm>
          <a:prstGeom prst="round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Reply with catalogue facts and citations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Design Steps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3749039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800" b="1" i="0">
                <a:solidFill>
                  <a:srgbClr val="1F4788"/>
                </a:solidFill>
                <a:latin typeface="Calibri"/>
              </a:rPr>
              <a:t>Technical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3657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2D2D2D"/>
                </a:solidFill>
                <a:latin typeface="Calibri"/>
              </a:rPr>
              <a:t>1. Understand: </a:t>
            </a:r>
            <a:r>
              <a:rPr sz="1300" b="0" i="0">
                <a:solidFill>
                  <a:srgbClr val="2D2D2D"/>
                </a:solidFill>
                <a:latin typeface="Calibri"/>
              </a:rPr>
              <a:t>parser built from the catalogue’s own brands, product lines, colours and units; fuzzy matching fixes “krida ion flex”.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2D2D2D"/>
                </a:solidFill>
                <a:latin typeface="Calibri"/>
              </a:rPr>
              <a:t>2. Decide: </a:t>
            </a:r>
            <a:r>
              <a:rPr sz="1300" b="0" i="0">
                <a:solidFill>
                  <a:srgbClr val="2D2D2D"/>
                </a:solidFill>
                <a:latin typeface="Calibri"/>
              </a:rPr>
              <a:t>filters, policy router and conversation memory choose answer, clarify or refuse, all in code.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2D2D2D"/>
                </a:solidFill>
                <a:latin typeface="Calibri"/>
              </a:rPr>
              <a:t>3. Fallback: </a:t>
            </a:r>
            <a:r>
              <a:rPr sz="1300" b="0" i="0">
                <a:solidFill>
                  <a:srgbClr val="2D2D2D"/>
                </a:solidFill>
                <a:latin typeface="Calibri"/>
              </a:rPr>
              <a:t>Groq gpt-oss-20b rewrites messages the rules can’t read; the output is validated and the rules decide again.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2D2D2D"/>
                </a:solidFill>
                <a:latin typeface="Calibri"/>
              </a:rPr>
              <a:t>4. Reply and check: </a:t>
            </a:r>
            <a:r>
              <a:rPr sz="1300" b="0" i="0">
                <a:solidFill>
                  <a:srgbClr val="2D2D2D"/>
                </a:solidFill>
                <a:latin typeface="Calibri"/>
              </a:rPr>
              <a:t>facts are copied from the catalogue, and the guard re-checks every ₹ amount with the scorer’s rules.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1005840"/>
            <a:ext cx="4251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800" b="1" i="0">
                <a:solidFill>
                  <a:srgbClr val="1F4788"/>
                </a:solidFill>
                <a:latin typeface="Calibri"/>
              </a:rPr>
              <a:t>Architecture Diagram</a:t>
            </a:r>
          </a:p>
        </p:txBody>
      </p:sp>
      <p:sp>
        <p:nvSpPr>
          <p:cNvPr id="7" name="Diagram panel"/>
          <p:cNvSpPr/>
          <p:nvPr/>
        </p:nvSpPr>
        <p:spPr>
          <a:xfrm>
            <a:off x="4434840" y="1371600"/>
            <a:ext cx="4251960" cy="31546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Architecture diagram" descr="Architecture: shopper message, parser, decide with policy router, follow-up turn, named product and filters, LLM rewrite only if needed, response, guard, final rep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1592580"/>
            <a:ext cx="4069080" cy="2712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Tools &amp;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4788"/>
                </a:solidFill>
                <a:latin typeface="Calibri"/>
              </a:rPr>
              <a:t>Tech Stack</a:t>
            </a:r>
          </a:p>
        </p:txBody>
      </p:sp>
      <p:sp>
        <p:nvSpPr>
          <p:cNvPr id="5" name="Tool 1"/>
          <p:cNvSpPr/>
          <p:nvPr/>
        </p:nvSpPr>
        <p:spPr>
          <a:xfrm>
            <a:off x="457200" y="1417320"/>
            <a:ext cx="1920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 i="0">
                <a:solidFill>
                  <a:srgbClr val="1F4788"/>
                </a:solidFill>
                <a:latin typeface="Calibri"/>
              </a:rPr>
              <a:t>Python 3.11 + uv</a:t>
            </a:r>
          </a:p>
          <a:p>
            <a:pPr algn="ctr"/>
            <a:r>
              <a:rPr sz="1050" b="0" i="0">
                <a:solidFill>
                  <a:srgbClr val="5F5F5F"/>
                </a:solidFill>
                <a:latin typeface="Calibri"/>
              </a:rPr>
              <a:t>language, locked dependencies</a:t>
            </a:r>
          </a:p>
        </p:txBody>
      </p:sp>
      <p:sp>
        <p:nvSpPr>
          <p:cNvPr id="6" name="Tool 2"/>
          <p:cNvSpPr/>
          <p:nvPr/>
        </p:nvSpPr>
        <p:spPr>
          <a:xfrm>
            <a:off x="2560320" y="1417320"/>
            <a:ext cx="1920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 i="0">
                <a:solidFill>
                  <a:srgbClr val="1F4788"/>
                </a:solidFill>
                <a:latin typeface="Calibri"/>
              </a:rPr>
              <a:t>FastAPI + Pydantic</a:t>
            </a:r>
          </a:p>
          <a:p>
            <a:pPr algn="ctr"/>
            <a:r>
              <a:rPr sz="1050" b="0" i="0">
                <a:solidFill>
                  <a:srgbClr val="5F5F5F"/>
                </a:solidFill>
                <a:latin typeface="Calibri"/>
              </a:rPr>
              <a:t>API and validation</a:t>
            </a:r>
          </a:p>
        </p:txBody>
      </p:sp>
      <p:sp>
        <p:nvSpPr>
          <p:cNvPr id="7" name="Tool 3"/>
          <p:cNvSpPr/>
          <p:nvPr/>
        </p:nvSpPr>
        <p:spPr>
          <a:xfrm>
            <a:off x="4663440" y="1417320"/>
            <a:ext cx="1920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 i="0">
                <a:solidFill>
                  <a:srgbClr val="1F4788"/>
                </a:solidFill>
                <a:latin typeface="Calibri"/>
              </a:rPr>
              <a:t>rapidfuzz</a:t>
            </a:r>
          </a:p>
          <a:p>
            <a:pPr algn="ctr"/>
            <a:r>
              <a:rPr sz="1050" b="0" i="0">
                <a:solidFill>
                  <a:srgbClr val="5F5F5F"/>
                </a:solidFill>
                <a:latin typeface="Calibri"/>
              </a:rPr>
              <a:t>fuzzy name matching</a:t>
            </a:r>
          </a:p>
        </p:txBody>
      </p:sp>
      <p:sp>
        <p:nvSpPr>
          <p:cNvPr id="8" name="Tool 4"/>
          <p:cNvSpPr/>
          <p:nvPr/>
        </p:nvSpPr>
        <p:spPr>
          <a:xfrm>
            <a:off x="6766559" y="1417320"/>
            <a:ext cx="1920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 i="0">
                <a:solidFill>
                  <a:srgbClr val="1F4788"/>
                </a:solidFill>
                <a:latin typeface="Calibri"/>
              </a:rPr>
              <a:t>HTML / CSS / JS</a:t>
            </a:r>
          </a:p>
          <a:p>
            <a:pPr algn="ctr"/>
            <a:r>
              <a:rPr sz="1050" b="0" i="0">
                <a:solidFill>
                  <a:srgbClr val="5F5F5F"/>
                </a:solidFill>
                <a:latin typeface="Calibri"/>
              </a:rPr>
              <a:t>chat UI with Sources panel</a:t>
            </a:r>
          </a:p>
        </p:txBody>
      </p:sp>
      <p:sp>
        <p:nvSpPr>
          <p:cNvPr id="9" name="Tool 5"/>
          <p:cNvSpPr/>
          <p:nvPr/>
        </p:nvSpPr>
        <p:spPr>
          <a:xfrm>
            <a:off x="457200" y="2331720"/>
            <a:ext cx="1920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 i="0">
                <a:solidFill>
                  <a:srgbClr val="1F4788"/>
                </a:solidFill>
                <a:latin typeface="Calibri"/>
              </a:rPr>
              <a:t>Groq API</a:t>
            </a:r>
          </a:p>
          <a:p>
            <a:pPr algn="ctr"/>
            <a:r>
              <a:rPr sz="1050" b="0" i="0">
                <a:solidFill>
                  <a:srgbClr val="5F5F5F"/>
                </a:solidFill>
                <a:latin typeface="Calibri"/>
              </a:rPr>
              <a:t>gpt-oss-20b LLM fallback</a:t>
            </a:r>
          </a:p>
        </p:txBody>
      </p:sp>
      <p:sp>
        <p:nvSpPr>
          <p:cNvPr id="10" name="Tool 6"/>
          <p:cNvSpPr/>
          <p:nvPr/>
        </p:nvSpPr>
        <p:spPr>
          <a:xfrm>
            <a:off x="2560320" y="2331720"/>
            <a:ext cx="1920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 i="0">
                <a:solidFill>
                  <a:srgbClr val="1F4788"/>
                </a:solidFill>
                <a:latin typeface="Calibri"/>
              </a:rPr>
              <a:t>pytest</a:t>
            </a:r>
          </a:p>
          <a:p>
            <a:pPr algn="ctr"/>
            <a:r>
              <a:rPr sz="1050" b="0" i="0">
                <a:solidFill>
                  <a:srgbClr val="5F5F5F"/>
                </a:solidFill>
                <a:latin typeface="Calibri"/>
              </a:rPr>
              <a:t>71 automated tests</a:t>
            </a:r>
          </a:p>
        </p:txBody>
      </p:sp>
      <p:sp>
        <p:nvSpPr>
          <p:cNvPr id="11" name="Tool 7"/>
          <p:cNvSpPr/>
          <p:nvPr/>
        </p:nvSpPr>
        <p:spPr>
          <a:xfrm>
            <a:off x="4663440" y="2331720"/>
            <a:ext cx="1920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 i="0">
                <a:solidFill>
                  <a:srgbClr val="1F4788"/>
                </a:solidFill>
                <a:latin typeface="Calibri"/>
              </a:rPr>
              <a:t>Code quality checks</a:t>
            </a:r>
          </a:p>
          <a:p>
            <a:pPr algn="ctr"/>
            <a:r>
              <a:rPr sz="1050" b="0" i="0">
                <a:solidFill>
                  <a:srgbClr val="5F5F5F"/>
                </a:solidFill>
                <a:latin typeface="Calibri"/>
              </a:rPr>
              <a:t>lint and security scans</a:t>
            </a:r>
          </a:p>
        </p:txBody>
      </p:sp>
      <p:sp>
        <p:nvSpPr>
          <p:cNvPr id="12" name="Tool 8"/>
          <p:cNvSpPr/>
          <p:nvPr/>
        </p:nvSpPr>
        <p:spPr>
          <a:xfrm>
            <a:off x="6766559" y="2331720"/>
            <a:ext cx="1920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7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 i="0">
                <a:solidFill>
                  <a:srgbClr val="1F4788"/>
                </a:solidFill>
                <a:latin typeface="Calibri"/>
              </a:rPr>
              <a:t>evaluate.py</a:t>
            </a:r>
          </a:p>
          <a:p>
            <a:pPr algn="ctr"/>
            <a:r>
              <a:rPr sz="1050" b="0" i="0">
                <a:solidFill>
                  <a:srgbClr val="5F5F5F"/>
                </a:solidFill>
                <a:latin typeface="Calibri"/>
              </a:rPr>
              <a:t>organisers’ official scorer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F4788"/>
                </a:solidFill>
                <a:latin typeface="Calibri"/>
              </a:rPr>
              <a:t>Engineering Practices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57600"/>
            <a:ext cx="7863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400" b="0" i="0">
                <a:solidFill>
                  <a:srgbClr val="2D2D2D"/>
                </a:solidFill>
                <a:latin typeface="Calibri"/>
              </a:rPr>
              <a:t>Core logic separate from the web layer; all settings in config.yaml; secrets only in .env.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400" b="0" i="0">
                <a:solidFill>
                  <a:srgbClr val="2D2D2D"/>
                </a:solidFill>
                <a:latin typeface="Calibri"/>
              </a:rPr>
              <a:t>Structured logging, timeouts on every network call, input validation and rate limiting on the API.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Unique Selling Proposition (USP)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2468880" cy="73152"/>
          </a:xfrm>
          <a:prstGeom prst="rect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F4788"/>
                </a:solidFill>
                <a:latin typeface="Calibri"/>
              </a:rPr>
              <a:t>Key Differentiator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2468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1F4788"/>
                </a:solidFill>
                <a:latin typeface="Calibri"/>
              </a:rPr>
              <a:t>Prices cannot be invented</a:t>
            </a:r>
          </a:p>
          <a:p>
            <a:pPr algn="ctr"/>
            <a:r>
              <a:rPr sz="1200" b="0" i="0">
                <a:solidFill>
                  <a:srgbClr val="1F4788"/>
                </a:solidFill>
                <a:latin typeface="Calibri"/>
              </a:rPr>
              <a:t>Code copies every price from the catalogue and the guard re-checks every ₹ amount: 0 hallucinated prices.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005840"/>
            <a:ext cx="2468880" cy="73152"/>
          </a:xfrm>
          <a:prstGeom prst="rect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66160" y="1143000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F4788"/>
                </a:solidFill>
                <a:latin typeface="Calibri"/>
              </a:rPr>
              <a:t>Key Differentiator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08760"/>
            <a:ext cx="2468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1F4788"/>
                </a:solidFill>
                <a:latin typeface="Calibri"/>
              </a:rPr>
              <a:t>Rules first, LLM only when needed</a:t>
            </a:r>
          </a:p>
          <a:p>
            <a:pPr algn="ctr"/>
            <a:r>
              <a:rPr sz="1200" b="0" i="0">
                <a:solidFill>
                  <a:srgbClr val="1F4788"/>
                </a:solidFill>
                <a:latin typeface="Calibri"/>
              </a:rPr>
              <a:t>~1 ms and $0 per query. The LLM only rewrites unclear messages and never states a fact.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005840"/>
            <a:ext cx="2468880" cy="73152"/>
          </a:xfrm>
          <a:prstGeom prst="rect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143000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F4788"/>
                </a:solidFill>
                <a:latin typeface="Calibri"/>
              </a:rPr>
              <a:t>Key Differentiator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508760"/>
            <a:ext cx="2468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1F4788"/>
                </a:solidFill>
                <a:latin typeface="Calibri"/>
              </a:rPr>
              <a:t>Built for Indian shoppers</a:t>
            </a:r>
          </a:p>
          <a:p>
            <a:pPr algn="ctr"/>
            <a:r>
              <a:rPr sz="1200" b="0" i="0">
                <a:solidFill>
                  <a:srgbClr val="1F4788"/>
                </a:solidFill>
                <a:latin typeface="Calibri"/>
              </a:rPr>
              <a:t>Understands Hinglish, misspellings and descriptions like “baal sukhane wala machine”, and remembers budget and filters across turns.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3756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F4788"/>
                </a:solidFill>
                <a:latin typeface="Calibri"/>
              </a:rPr>
              <a:t>Competitive Advantage 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03320"/>
            <a:ext cx="7863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400" b="0" i="0">
                <a:solidFill>
                  <a:srgbClr val="2D2D2D"/>
                </a:solidFill>
                <a:latin typeface="Calibri"/>
              </a:rPr>
              <a:t>Why choose us: shoppers get answers they can check, with a product ID or policy section next to every fact, and retailers never promise what they don’t sell.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400" b="0" i="0">
                <a:solidFill>
                  <a:srgbClr val="2D2D2D"/>
                </a:solidFill>
                <a:latin typeface="Calibri"/>
              </a:rPr>
              <a:t>Versus alternatives: general chatbots answer confidently even when wrong; ours is fast, nearly free, and honest by design.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800" b="1" i="0">
                <a:solidFill>
                  <a:srgbClr val="1F4788"/>
                </a:solidFill>
                <a:latin typeface="Calibri"/>
              </a:rPr>
              <a:t>Live Demonstration</a:t>
            </a:r>
          </a:p>
        </p:txBody>
      </p:sp>
      <p:sp>
        <p:nvSpPr>
          <p:cNvPr id="5" name="Screenshot frame"/>
          <p:cNvSpPr/>
          <p:nvPr/>
        </p:nvSpPr>
        <p:spPr>
          <a:xfrm>
            <a:off x="457200" y="1280160"/>
            <a:ext cx="5029200" cy="3008376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Chatbot screenshot" descr="Chatbot screenshot: a clarify reply listing four yoga mats, the follow-up 'lavender wali' answered, and the Sources pane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5880"/>
            <a:ext cx="4937760" cy="29489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0" y="128016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 dirty="0">
                <a:solidFill>
                  <a:srgbClr val="1F4788"/>
                </a:solidFill>
                <a:latin typeface="Calibri"/>
              </a:rPr>
              <a:t>Try These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1645920"/>
            <a:ext cx="3017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 i="0">
                <a:solidFill>
                  <a:srgbClr val="00A4EF"/>
                </a:solidFill>
                <a:latin typeface="Calibri"/>
              </a:rPr>
              <a:t>ANSWER ·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0" y="1810512"/>
            <a:ext cx="3017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2D2D2D"/>
                </a:solidFill>
                <a:latin typeface="Calibri"/>
              </a:rPr>
              <a:t>Price of Chargit QuillBolt red earphones?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2084832"/>
            <a:ext cx="3017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 i="0">
                <a:solidFill>
                  <a:srgbClr val="00A4EF"/>
                </a:solidFill>
                <a:latin typeface="Calibri"/>
              </a:rPr>
              <a:t>CLARIFY · Hinglish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2249424"/>
            <a:ext cx="3017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2D2D2D"/>
                </a:solidFill>
                <a:latin typeface="Calibri"/>
              </a:rPr>
              <a:t>green running shoes kitne ke hai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2523744"/>
            <a:ext cx="3017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 i="0">
                <a:solidFill>
                  <a:srgbClr val="00A4EF"/>
                </a:solidFill>
                <a:latin typeface="Calibri"/>
              </a:rPr>
              <a:t>POLICY · English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2688336"/>
            <a:ext cx="3017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2D2D2D"/>
                </a:solidFill>
                <a:latin typeface="Calibri"/>
              </a:rPr>
              <a:t>Can I return earbuds after opening the seal?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2962656"/>
            <a:ext cx="3017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 i="0">
                <a:solidFill>
                  <a:srgbClr val="00A4EF"/>
                </a:solidFill>
                <a:latin typeface="Calibri"/>
              </a:rPr>
              <a:t>REFUSE · Hinglish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3127248"/>
            <a:ext cx="3017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2D2D2D"/>
                </a:solidFill>
                <a:latin typeface="Calibri"/>
              </a:rPr>
              <a:t>iphone 15 milega?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401568"/>
            <a:ext cx="3017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 i="0">
                <a:solidFill>
                  <a:srgbClr val="00A4EF"/>
                </a:solidFill>
                <a:latin typeface="Calibri"/>
              </a:rPr>
              <a:t>MULTI-TURN · Hinglish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3566160"/>
            <a:ext cx="3017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2D2D2D"/>
                </a:solidFill>
                <a:latin typeface="Calibri"/>
              </a:rPr>
              <a:t>6 mm yoga mat chahiye → TPE wali 600 ke andar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3840480"/>
            <a:ext cx="3017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 i="0">
                <a:solidFill>
                  <a:srgbClr val="00A4EF"/>
                </a:solidFill>
                <a:latin typeface="Calibri"/>
              </a:rPr>
              <a:t>LLM · English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4005072"/>
            <a:ext cx="3017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2D2D2D"/>
                </a:solidFill>
                <a:latin typeface="Calibri"/>
              </a:rPr>
              <a:t>How much is a machine that toasts bread?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1F4788"/>
                </a:solidFill>
                <a:latin typeface="Calibri"/>
              </a:rPr>
              <a:t>Chatbot: </a:t>
            </a:r>
            <a:r>
              <a:rPr sz="1200" b="0" i="0">
                <a:solidFill>
                  <a:srgbClr val="1F4788"/>
                </a:solidFill>
                <a:latin typeface="Calibri"/>
              </a:rPr>
              <a:t>http://127.0.0.1:8000    </a:t>
            </a:r>
            <a:r>
              <a:rPr sz="1200" b="1" i="0">
                <a:solidFill>
                  <a:srgbClr val="1F4788"/>
                </a:solidFill>
                <a:latin typeface="Calibri"/>
              </a:rPr>
              <a:t>API docs: </a:t>
            </a:r>
            <a:r>
              <a:rPr sz="1200" b="0" i="0">
                <a:solidFill>
                  <a:srgbClr val="1F4788"/>
                </a:solidFill>
                <a:latin typeface="Calibri"/>
              </a:rPr>
              <a:t>http://127.0.0.1:8000/api/docs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Results &amp;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2468880" cy="73152"/>
          </a:xfrm>
          <a:prstGeom prst="rect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2468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1F4788"/>
                </a:solidFill>
                <a:latin typeface="Calibri"/>
              </a:rPr>
              <a:t>1.000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F4788"/>
                </a:solidFill>
                <a:latin typeface="Calibri"/>
              </a:rPr>
              <a:t>Dev score (baseline 0.73)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2468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2D2D2D"/>
                </a:solidFill>
                <a:latin typeface="Calibri"/>
              </a:rPr>
              <a:t>Official evaluate.py on 40 dev questions: action, grounding and helpfulness all perfect.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005840"/>
            <a:ext cx="2468880" cy="73152"/>
          </a:xfrm>
          <a:prstGeom prst="rect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66160" y="1115568"/>
            <a:ext cx="2468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1F4788"/>
                </a:solidFill>
                <a:latin typeface="Calibri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737360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F4788"/>
                </a:solidFill>
                <a:latin typeface="Calibri"/>
              </a:rPr>
              <a:t>Hallucinated prices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103120"/>
            <a:ext cx="2468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2D2D2D"/>
                </a:solidFill>
                <a:latin typeface="Calibri"/>
              </a:rPr>
              <a:t>Every ₹ amount is copied from the catalogue and re-checked by the price guard.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005840"/>
            <a:ext cx="2468880" cy="73152"/>
          </a:xfrm>
          <a:prstGeom prst="rect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115568"/>
            <a:ext cx="2468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1F4788"/>
                </a:solidFill>
                <a:latin typeface="Calibri"/>
              </a:rPr>
              <a:t>~1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37360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F4788"/>
                </a:solidFill>
                <a:latin typeface="Calibri"/>
              </a:rPr>
              <a:t>Per query, $0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03120"/>
            <a:ext cx="2468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2D2D2D"/>
                </a:solidFill>
                <a:latin typeface="Calibri"/>
              </a:rPr>
              <a:t>Rules answer offline with 0 tokens. The LLM fallback uses ~900 tokens, ~0.5 s, ~$0.0001.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F4788"/>
                </a:solidFill>
                <a:latin typeface="Calibri"/>
              </a:rPr>
              <a:t>Test Set and Quality Checks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11880"/>
            <a:ext cx="7863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400" b="0" i="0">
                <a:solidFill>
                  <a:srgbClr val="2D2D2D"/>
                </a:solidFill>
                <a:latin typeface="Calibri"/>
              </a:rPr>
              <a:t>150 test questions answered: 82 answer, 30 clarify, 38 refuse, close to the expected test mix.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400" b="0" i="0">
                <a:solidFill>
                  <a:srgbClr val="2D2D2D"/>
                </a:solidFill>
                <a:latin typeface="Calibri"/>
              </a:rPr>
              <a:t>71 automated tests pass; ruff lint clean; pip-audit finds no known vulnerabilities.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400" b="0" i="0">
                <a:solidFill>
                  <a:srgbClr val="2D2D2D"/>
                </a:solidFill>
                <a:latin typeface="Calibri"/>
              </a:rPr>
              <a:t>Every example in our questions guide was verified against the live assistant.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Responsible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4788"/>
                </a:solidFill>
                <a:latin typeface="Calibri"/>
              </a:rPr>
              <a:t>How Every Answer Stays Grounded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Every fact carries a product ID or policy section, and the Sources panel shows the exact catalogue row.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Missing ≠ false: if the catalogue doesn’t list a feature, the assistant says so instead of guessing.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It asks which product is meant when several match, and refuses unsold items, other brands and policy gaps.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4788"/>
                </a:solidFill>
                <a:latin typeface="Calibri"/>
              </a:rPr>
              <a:t>Safe Use of the 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80"/>
            <a:ext cx="7863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Fallback only, and it never writes prices, stock or IDs; its output is validated and invented brands are dropped.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Shopper text is treated as data (prompt-injection safe); the API key lives in .env, never in code.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Timeouts, retries and rate-limit handling; if Groq is down, the rules keep answering offline.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Challenges &amp;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2D2D2D"/>
                </a:solidFill>
                <a:latin typeface="Calibri"/>
              </a:rPr>
              <a:t>Challenge 1: Hinglish and confusing names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2D2D2D"/>
                </a:solidFill>
                <a:latin typeface="Calibri"/>
              </a:rPr>
              <a:t>Problem: </a:t>
            </a:r>
            <a:r>
              <a:rPr sz="1300" b="0" i="0">
                <a:solidFill>
                  <a:srgbClr val="2D2D2D"/>
                </a:solidFill>
                <a:latin typeface="Calibri"/>
              </a:rPr>
              <a:t>Misspelt or split names (“krida ion flex”); Hindi words that are also product names (“khilona”).</a:t>
            </a:r>
          </a:p>
          <a:p>
            <a:r>
              <a:rPr sz="1300" b="1" i="0">
                <a:solidFill>
                  <a:srgbClr val="2D2D2D"/>
                </a:solidFill>
                <a:latin typeface="Calibri"/>
              </a:rPr>
              <a:t>Mitigation: </a:t>
            </a:r>
            <a:r>
              <a:rPr sz="1300" b="0" i="0">
                <a:solidFill>
                  <a:srgbClr val="2D2D2D"/>
                </a:solidFill>
                <a:latin typeface="Calibri"/>
              </a:rPr>
              <a:t>Catalogue-built vocabulary, fuzzy matching, and ignoring coincidental names.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84832"/>
            <a:ext cx="8229600" cy="914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17627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2D2D2D"/>
                </a:solidFill>
                <a:latin typeface="Calibri"/>
              </a:rPr>
              <a:t>Challenge 2: Ambiguous questions and missing facts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05456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2D2D2D"/>
                </a:solidFill>
                <a:latin typeface="Calibri"/>
              </a:rPr>
              <a:t>Problem: </a:t>
            </a:r>
            <a:r>
              <a:rPr sz="1300" b="0" i="0">
                <a:solidFill>
                  <a:srgbClr val="2D2D2D"/>
                </a:solidFill>
                <a:latin typeface="Calibri"/>
              </a:rPr>
              <a:t>Many variants differ in price or stock, and many attributes are simply not listed.</a:t>
            </a:r>
          </a:p>
          <a:p>
            <a:r>
              <a:rPr sz="1300" b="1" i="0">
                <a:solidFill>
                  <a:srgbClr val="2D2D2D"/>
                </a:solidFill>
                <a:latin typeface="Calibri"/>
              </a:rPr>
              <a:t>Mitigation: </a:t>
            </a:r>
            <a:r>
              <a:rPr sz="1300" b="0" i="0">
                <a:solidFill>
                  <a:srgbClr val="2D2D2D"/>
                </a:solidFill>
                <a:latin typeface="Calibri"/>
              </a:rPr>
              <a:t>Clarify only when the asked detail differs; treat missing facts as unknown and refuse instead of guessing.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46704"/>
            <a:ext cx="8229600" cy="914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343814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2D2D2D"/>
                </a:solidFill>
                <a:latin typeface="Calibri"/>
              </a:rPr>
              <a:t>Challenge 3: An unpredictable, rate-limited 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67328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2D2D2D"/>
                </a:solidFill>
                <a:latin typeface="Calibri"/>
              </a:rPr>
              <a:t>Problem: </a:t>
            </a:r>
            <a:r>
              <a:rPr sz="1300" b="0" i="0">
                <a:solidFill>
                  <a:srgbClr val="2D2D2D"/>
                </a:solidFill>
                <a:latin typeface="Calibri"/>
              </a:rPr>
              <a:t>Wrong mappings (clothes dryer → hair dryer), invented brands, and HTTP 429 rate limits.</a:t>
            </a:r>
          </a:p>
          <a:p>
            <a:r>
              <a:rPr sz="1300" b="1" i="0">
                <a:solidFill>
                  <a:srgbClr val="2D2D2D"/>
                </a:solidFill>
                <a:latin typeface="Calibri"/>
              </a:rPr>
              <a:t>Mitigation: </a:t>
            </a:r>
            <a:r>
              <a:rPr sz="1300" b="0" i="0">
                <a:solidFill>
                  <a:srgbClr val="2D2D2D"/>
                </a:solidFill>
                <a:latin typeface="Calibri"/>
              </a:rPr>
              <a:t>Translate-then-map prompt, validation, one retry and back-off; the rules keep answering.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4788"/>
                </a:solidFill>
                <a:latin typeface="Calibri"/>
              </a:rPr>
              <a:t>Known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The Hinglish word list is hand-written; very unusual phrasing can still be refused.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The LLM fallback needs network access, adds ~0.5 s, and can occasionally pick the wrong product type.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Conversation memory and rate limiting are in-memory: demo scale, no user accounts.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4788"/>
                </a:solidFill>
                <a:latin typeface="Calibri"/>
              </a:rP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80"/>
            <a:ext cx="7863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Learn new Hinglish words and product aliases from real shopper logs.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Add a feedback button so wrong answers are flagged and reviewed.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rgbClr val="2D2D2D"/>
                </a:solidFill>
                <a:latin typeface="Calibri"/>
              </a:rPr>
              <a:t>Move memory to a shared store and add authentication for production 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7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55448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3172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 i="0">
                <a:solidFill>
                  <a:srgbClr val="00A4E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Tech Titans · Retail (R3) · Shopping Assistant that doesn’t lie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1557</Words>
  <Application>Microsoft Macintosh PowerPoint</Application>
  <PresentationFormat>On-screen Show (16:9)</PresentationFormat>
  <Paragraphs>144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Akshay Raj Chevala</cp:lastModifiedBy>
  <cp:revision>6</cp:revision>
  <dcterms:created xsi:type="dcterms:W3CDTF">2026-08-06T14:25:19Z</dcterms:created>
  <dcterms:modified xsi:type="dcterms:W3CDTF">2026-10-29T07:22:17Z</dcterms:modified>
</cp:coreProperties>
</file>